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6858000" cy="9144000"/>
  <p:embeddedFontLst>
    <p:embeddedFont>
      <p:font typeface="Spectral"/>
      <p:regular r:id="rId8"/>
      <p:bold r:id="rId9"/>
      <p:italic r:id="rId10"/>
      <p:boldItalic r:id="rId11"/>
    </p:embeddedFont>
    <p:embeddedFont>
      <p:font typeface="Spectral SemiBold"/>
      <p:regular r:id="rId12"/>
      <p:bold r:id="rId13"/>
      <p:italic r:id="rId14"/>
      <p:boldItalic r:id="rId15"/>
    </p:embeddedFont>
    <p:embeddedFont>
      <p:font typeface="Spectral Light"/>
      <p:regular r:id="rId16"/>
      <p:bold r:id="rId17"/>
      <p:italic r:id="rId18"/>
      <p:boldItalic r:id="rId19"/>
    </p:embeddedFont>
    <p:embeddedFont>
      <p:font typeface="Spectral Medium"/>
      <p:regular r:id="rId20"/>
      <p:bold r:id="rId21"/>
      <p:italic r:id="rId22"/>
      <p:boldItalic r:id="rId23"/>
    </p:embeddedFont>
    <p:embeddedFont>
      <p:font typeface="Spectral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SR5yXyEMnKcGJwh60P9yTRJMV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ectralMedium-regular.fntdata"/><Relationship Id="rId22" Type="http://schemas.openxmlformats.org/officeDocument/2006/relationships/font" Target="fonts/SpectralMedium-italic.fntdata"/><Relationship Id="rId21" Type="http://schemas.openxmlformats.org/officeDocument/2006/relationships/font" Target="fonts/SpectralMedium-bold.fntdata"/><Relationship Id="rId24" Type="http://schemas.openxmlformats.org/officeDocument/2006/relationships/font" Target="fonts/SpectralExtraBold-bold.fntdata"/><Relationship Id="rId23" Type="http://schemas.openxmlformats.org/officeDocument/2006/relationships/font" Target="fonts/Spectral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Spectral-bold.fntdata"/><Relationship Id="rId26" Type="http://customschemas.google.com/relationships/presentationmetadata" Target="metadata"/><Relationship Id="rId25" Type="http://schemas.openxmlformats.org/officeDocument/2006/relationships/font" Target="fonts/SpectralExtra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Spectral-regular.fntdata"/><Relationship Id="rId11" Type="http://schemas.openxmlformats.org/officeDocument/2006/relationships/font" Target="fonts/Spectral-boldItalic.fntdata"/><Relationship Id="rId10" Type="http://schemas.openxmlformats.org/officeDocument/2006/relationships/font" Target="fonts/Spectral-italic.fntdata"/><Relationship Id="rId13" Type="http://schemas.openxmlformats.org/officeDocument/2006/relationships/font" Target="fonts/SpectralSemiBold-bold.fntdata"/><Relationship Id="rId12" Type="http://schemas.openxmlformats.org/officeDocument/2006/relationships/font" Target="fonts/SpectralSemiBold-regular.fntdata"/><Relationship Id="rId15" Type="http://schemas.openxmlformats.org/officeDocument/2006/relationships/font" Target="fonts/SpectralSemiBold-boldItalic.fntdata"/><Relationship Id="rId14" Type="http://schemas.openxmlformats.org/officeDocument/2006/relationships/font" Target="fonts/SpectralSemiBold-italic.fntdata"/><Relationship Id="rId17" Type="http://schemas.openxmlformats.org/officeDocument/2006/relationships/font" Target="fonts/SpectralLight-bold.fntdata"/><Relationship Id="rId16" Type="http://schemas.openxmlformats.org/officeDocument/2006/relationships/font" Target="fonts/SpectralLight-regular.fntdata"/><Relationship Id="rId19" Type="http://schemas.openxmlformats.org/officeDocument/2006/relationships/font" Target="fonts/SpectralLight-boldItalic.fntdata"/><Relationship Id="rId18" Type="http://schemas.openxmlformats.org/officeDocument/2006/relationships/font" Target="fonts/Spectral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As-is flow for a store compliance visit: the merchandiser visit, manual judgement, brand team review, follow-up and reporting. The steps and pain points are inferred from the Brand Compliance scope and build; validate with the VIP team.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To-be flow in the UnifyApps build of AI-Powered Retail Brand &amp; Shelf Compliance. Photo to scored visit takes 10 to 15 seconds. The result banner is a live capture from the app: Westgate Wine and Spirits, Jim Beam, store score 68.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screen is a live capture from the demo. The brand team edits and approves every store email before it is sent.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Eyebrow - Left Aligned">
  <p:cSld name="5_Title and Content_2_3">
    <p:bg>
      <p:bgPr>
        <a:gradFill>
          <a:gsLst>
            <a:gs pos="0">
              <a:srgbClr val="FFFFFF"/>
            </a:gs>
            <a:gs pos="41000">
              <a:srgbClr val="FFFFFF"/>
            </a:gs>
            <a:gs pos="100000">
              <a:schemeClr val="lt2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5" title="UnifyAppsLogo-Gold-TM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600" y="4727513"/>
            <a:ext cx="943736" cy="27551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5"/>
          <p:cNvSpPr txBox="1"/>
          <p:nvPr/>
        </p:nvSpPr>
        <p:spPr>
          <a:xfrm>
            <a:off x="8501691" y="4744238"/>
            <a:ext cx="3948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847347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‹#›</a:t>
            </a:fld>
            <a:endParaRPr b="0" i="0" sz="600" u="none" cap="none" strike="noStrike">
              <a:solidFill>
                <a:srgbClr val="847347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11" name="Google Shape;11;p5"/>
          <p:cNvSpPr txBox="1"/>
          <p:nvPr/>
        </p:nvSpPr>
        <p:spPr>
          <a:xfrm>
            <a:off x="3241351" y="4719200"/>
            <a:ext cx="26613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847347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Agentic Automation for the Enterprise   ·   Strictly Confidential</a:t>
            </a:r>
            <a:endParaRPr b="0" i="0" sz="800" u="none" cap="none" strike="noStrike">
              <a:solidFill>
                <a:srgbClr val="847347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12" name="Google Shape;12;p5"/>
          <p:cNvSpPr txBox="1"/>
          <p:nvPr/>
        </p:nvSpPr>
        <p:spPr>
          <a:xfrm>
            <a:off x="1444614" y="4840932"/>
            <a:ext cx="2263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847347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·   Intelligence that compounds</a:t>
            </a:r>
            <a:endParaRPr b="0" i="0" sz="1100" u="none" cap="none" strike="noStrike">
              <a:solidFill>
                <a:srgbClr val="847347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411600" y="1280150"/>
            <a:ext cx="8346600" cy="31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pectral Light"/>
              <a:buNone/>
              <a:defRPr sz="1400">
                <a:solidFill>
                  <a:schemeClr val="accent2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Spectral SemiBold"/>
              <a:buNone/>
              <a:defRPr sz="8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Spectral SemiBold"/>
              <a:buNone/>
              <a:defRPr b="0" sz="6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00"/>
              <a:buFont typeface="Spectral SemiBold"/>
              <a:buNone/>
              <a:defRPr b="0" sz="3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00"/>
              <a:buFont typeface="Spectral SemiBold"/>
              <a:buNone/>
              <a:defRPr sz="3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5pPr>
            <a:lvl6pPr indent="-2794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Spectral SemiBold"/>
              <a:buChar char="•"/>
              <a:defRPr sz="8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6pPr>
            <a:lvl7pPr indent="-2794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Spectral SemiBold"/>
              <a:buChar char="•"/>
              <a:defRPr sz="8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Spectral SemiBold"/>
              <a:buChar char="•"/>
              <a:defRPr sz="8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8pPr>
            <a:lvl9pPr indent="-2794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Spectral SemiBold"/>
              <a:buChar char="•"/>
              <a:defRPr sz="8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6115"/>
              </a:lnSpc>
              <a:spcBef>
                <a:spcPts val="0"/>
              </a:spcBef>
              <a:spcAft>
                <a:spcPts val="0"/>
              </a:spcAft>
              <a:buClr>
                <a:srgbClr val="3E1CC0"/>
              </a:buClr>
              <a:buSzPts val="1100"/>
              <a:buFont typeface="Poppins"/>
              <a:buNone/>
              <a:defRPr sz="1300">
                <a:solidFill>
                  <a:schemeClr val="dk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5"/>
          <p:cNvSpPr txBox="1"/>
          <p:nvPr>
            <p:ph type="title"/>
          </p:nvPr>
        </p:nvSpPr>
        <p:spPr>
          <a:xfrm>
            <a:off x="409925" y="642200"/>
            <a:ext cx="8440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5200"/>
              </a:lnSpc>
              <a:spcBef>
                <a:spcPts val="0"/>
              </a:spcBef>
              <a:spcAft>
                <a:spcPts val="0"/>
              </a:spcAft>
              <a:buClr>
                <a:srgbClr val="0D0451"/>
              </a:buClr>
              <a:buSzPts val="2300"/>
              <a:buFont typeface="Poppins Extra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41000">
              <a:srgbClr val="FFFFFF"/>
            </a:gs>
            <a:gs pos="100000">
              <a:schemeClr val="lt2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94800" y="400199"/>
            <a:ext cx="7886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Spectral SemiBold"/>
              <a:buNone/>
              <a:defRPr b="0" i="0" sz="2300" u="none" cap="none" strike="noStrike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94800" y="1370013"/>
            <a:ext cx="78867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pectral"/>
              <a:buNone/>
              <a:defRPr b="0" i="0" sz="14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ectral"/>
              <a:buNone/>
              <a:defRPr b="0" i="0" sz="10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Spectral"/>
              <a:buNone/>
              <a:defRPr b="1" i="0" sz="7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ectral"/>
              <a:buNone/>
              <a:defRPr b="1" i="0" sz="12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ectral ExtraBold"/>
              <a:buNone/>
              <a:defRPr b="0" i="0" sz="1000" u="none" cap="none" strike="noStrike">
                <a:solidFill>
                  <a:schemeClr val="accent2"/>
                </a:solidFill>
                <a:latin typeface="Spectral ExtraBold"/>
                <a:ea typeface="Spectral ExtraBold"/>
                <a:cs typeface="Spectral ExtraBold"/>
                <a:sym typeface="Spectral ExtraBold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Spectral"/>
              <a:buChar char="•"/>
              <a:defRPr b="0" i="0" sz="19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ectral"/>
              <a:buChar char="•"/>
              <a:defRPr b="0" i="0" sz="18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ectral"/>
              <a:buChar char="•"/>
              <a:defRPr b="0" i="0" sz="18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ectral"/>
              <a:buChar char="•"/>
              <a:defRPr b="0" i="0" sz="18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9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Spectral SemiBold"/>
                <a:ea typeface="Spectral SemiBold"/>
                <a:cs typeface="Spectral SemiBold"/>
                <a:sym typeface="Spectral SemiBold"/>
              </a:rPr>
              <a:t>HOW STORE VISITS ARE CHECKED TODAY</a:t>
            </a:r>
            <a:endParaRPr/>
          </a:p>
        </p:txBody>
      </p:sp>
      <p:sp>
        <p:nvSpPr>
          <p:cNvPr id="21" name="Google Shape;21;p1"/>
          <p:cNvSpPr txBox="1"/>
          <p:nvPr>
            <p:ph type="title"/>
          </p:nvPr>
        </p:nvSpPr>
        <p:spPr>
          <a:xfrm>
            <a:off x="409925" y="642200"/>
            <a:ext cx="731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600">
                <a:solidFill>
                  <a:srgbClr val="0F2805"/>
                </a:solidFill>
              </a:rPr>
              <a:t>Today’s challenges: </a:t>
            </a:r>
            <a:r>
              <a:rPr i="1" lang="en-US" sz="2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the store shelf audit</a:t>
            </a:r>
            <a:r>
              <a:rPr lang="en-US" sz="2600">
                <a:solidFill>
                  <a:srgbClr val="0F2805"/>
                </a:solidFill>
              </a:rPr>
              <a:t>.</a:t>
            </a:r>
            <a:endParaRPr>
              <a:solidFill>
                <a:srgbClr val="0F2805"/>
              </a:solidFill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1188720"/>
            <a:ext cx="8174736" cy="1828800"/>
          </a:xfrm>
          <a:prstGeom prst="roundRect">
            <a:avLst>
              <a:gd fmla="val 12000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1389888"/>
            <a:ext cx="493776" cy="493776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-plus-gold.png" id="24" name="Google Shape;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499616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1"/>
          <p:cNvCxnSpPr/>
          <p:nvPr/>
        </p:nvCxnSpPr>
        <p:spPr>
          <a:xfrm>
            <a:off x="1207008" y="1636776"/>
            <a:ext cx="903427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" name="Google Shape;26;p1"/>
          <p:cNvSpPr txBox="1"/>
          <p:nvPr/>
        </p:nvSpPr>
        <p:spPr>
          <a:xfrm>
            <a:off x="640080" y="2066544"/>
            <a:ext cx="1360627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Merchandiser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640080" y="2450592"/>
            <a:ext cx="136062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Visits the store and walks the shelf with a manual checklist.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183587" y="1389888"/>
            <a:ext cx="493776" cy="493776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ield-check-gold.png" id="29" name="Google Shape;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3315" y="1499616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1"/>
          <p:cNvCxnSpPr/>
          <p:nvPr/>
        </p:nvCxnSpPr>
        <p:spPr>
          <a:xfrm>
            <a:off x="2750515" y="1636776"/>
            <a:ext cx="903427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" name="Google Shape;31;p1"/>
          <p:cNvSpPr txBox="1"/>
          <p:nvPr/>
        </p:nvSpPr>
        <p:spPr>
          <a:xfrm>
            <a:off x="2183587" y="2066544"/>
            <a:ext cx="1360627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Merchandiser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2183587" y="2450592"/>
            <a:ext cx="136062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Judges each check by eye and labels every photo by hand.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727094" y="1389888"/>
            <a:ext cx="493776" cy="493776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-pen-gold.png" id="34" name="Google Shape;3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6822" y="1499616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" name="Google Shape;35;p1"/>
          <p:cNvCxnSpPr/>
          <p:nvPr/>
        </p:nvCxnSpPr>
        <p:spPr>
          <a:xfrm>
            <a:off x="4294022" y="1636776"/>
            <a:ext cx="903427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" name="Google Shape;36;p1"/>
          <p:cNvSpPr txBox="1"/>
          <p:nvPr/>
        </p:nvSpPr>
        <p:spPr>
          <a:xfrm>
            <a:off x="3727094" y="2066544"/>
            <a:ext cx="1360627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Brand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3727094" y="2450592"/>
            <a:ext cx="1360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Reads each visit report against agreements and price lists.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5270601" y="1389888"/>
            <a:ext cx="493776" cy="493776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ipboard-check-gold.png" id="39" name="Google Shape;3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0329" y="1499616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1"/>
          <p:cNvCxnSpPr/>
          <p:nvPr/>
        </p:nvCxnSpPr>
        <p:spPr>
          <a:xfrm>
            <a:off x="5837529" y="1636776"/>
            <a:ext cx="903427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" name="Google Shape;41;p1"/>
          <p:cNvSpPr txBox="1"/>
          <p:nvPr/>
        </p:nvSpPr>
        <p:spPr>
          <a:xfrm>
            <a:off x="5270601" y="2066544"/>
            <a:ext cx="1360627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Brand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5270601" y="2450592"/>
            <a:ext cx="136062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Writes follow-up emails to each store and the sales team.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6814108" y="1389888"/>
            <a:ext cx="493776" cy="493776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ye-gold.png" id="44" name="Google Shape;4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23836" y="14996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6814108" y="2066544"/>
            <a:ext cx="1360627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Brand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6814108" y="2450592"/>
            <a:ext cx="136062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Builds weekly scores by store and KPI in spreadsheets.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411480" y="310896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47347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WHERE IT BREAKS DOWN</a:t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411480" y="3291840"/>
            <a:ext cx="2569464" cy="566928"/>
          </a:xfrm>
          <a:prstGeom prst="roundRect">
            <a:avLst>
              <a:gd fmla="val 22000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521208" y="3410712"/>
            <a:ext cx="329184" cy="329184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n1.png" id="50" name="Google Shape;50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0212" y="3489716"/>
            <a:ext cx="171175" cy="17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"/>
          <p:cNvSpPr txBox="1"/>
          <p:nvPr/>
        </p:nvSpPr>
        <p:spPr>
          <a:xfrm>
            <a:off x="960120" y="3355848"/>
            <a:ext cx="1965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Results vary by person</a:t>
            </a:r>
            <a:endParaRPr/>
          </a:p>
        </p:txBody>
      </p:sp>
      <p:sp>
        <p:nvSpPr>
          <p:cNvPr id="52" name="Google Shape;52;p1"/>
          <p:cNvSpPr txBox="1"/>
          <p:nvPr/>
        </p:nvSpPr>
        <p:spPr>
          <a:xfrm>
            <a:off x="960120" y="354787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Each merchandiser reads the same shelf differently</a:t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3090672" y="3291840"/>
            <a:ext cx="2569464" cy="566928"/>
          </a:xfrm>
          <a:prstGeom prst="roundRect">
            <a:avLst>
              <a:gd fmla="val 22000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200400" y="3410712"/>
            <a:ext cx="329184" cy="329184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n2.png" id="55" name="Google Shape;5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79404" y="3489716"/>
            <a:ext cx="171175" cy="17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3639312" y="3355848"/>
            <a:ext cx="1965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No evidence behind a finding</a:t>
            </a:r>
            <a:endParaRPr/>
          </a:p>
        </p:txBody>
      </p:sp>
      <p:sp>
        <p:nvSpPr>
          <p:cNvPr id="57" name="Google Shape;57;p1"/>
          <p:cNvSpPr txBox="1"/>
          <p:nvPr/>
        </p:nvSpPr>
        <p:spPr>
          <a:xfrm>
            <a:off x="3639312" y="354787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Findings carry no photo or agreed clause</a:t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411480" y="3931920"/>
            <a:ext cx="2569464" cy="566928"/>
          </a:xfrm>
          <a:prstGeom prst="roundRect">
            <a:avLst>
              <a:gd fmla="val 22000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521208" y="4050791"/>
            <a:ext cx="329184" cy="329184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n3.png" id="60" name="Google Shape;60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0212" y="4129796"/>
            <a:ext cx="171175" cy="171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960120" y="3995928"/>
            <a:ext cx="1965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Manual follow-up</a:t>
            </a:r>
            <a:endParaRPr/>
          </a:p>
        </p:txBody>
      </p:sp>
      <p:sp>
        <p:nvSpPr>
          <p:cNvPr id="62" name="Google Shape;62;p1"/>
          <p:cNvSpPr txBox="1"/>
          <p:nvPr/>
        </p:nvSpPr>
        <p:spPr>
          <a:xfrm>
            <a:off x="960120" y="418795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Store emails and re-visits are prepared by hand</a:t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3090672" y="3931920"/>
            <a:ext cx="2569464" cy="566928"/>
          </a:xfrm>
          <a:prstGeom prst="roundRect">
            <a:avLst>
              <a:gd fmla="val 22000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3200400" y="4050791"/>
            <a:ext cx="329184" cy="329184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n4.png" id="65" name="Google Shape;65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79404" y="4129796"/>
            <a:ext cx="171175" cy="171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"/>
          <p:cNvSpPr txBox="1"/>
          <p:nvPr/>
        </p:nvSpPr>
        <p:spPr>
          <a:xfrm>
            <a:off x="3639312" y="3995928"/>
            <a:ext cx="1965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No ranked view of stores</a:t>
            </a:r>
            <a:endParaRPr/>
          </a:p>
        </p:txBody>
      </p:sp>
      <p:sp>
        <p:nvSpPr>
          <p:cNvPr id="67" name="Google Shape;67;p1"/>
          <p:cNvSpPr txBox="1"/>
          <p:nvPr/>
        </p:nvSpPr>
        <p:spPr>
          <a:xfrm>
            <a:off x="3639312" y="418795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The brand team reviews each visit on its own</a:t>
            </a:r>
            <a:endParaRPr/>
          </a:p>
        </p:txBody>
      </p:sp>
      <p:sp>
        <p:nvSpPr>
          <p:cNvPr id="68" name="Google Shape;68;p1"/>
          <p:cNvSpPr txBox="1"/>
          <p:nvPr/>
        </p:nvSpPr>
        <p:spPr>
          <a:xfrm>
            <a:off x="5760720" y="3291840"/>
            <a:ext cx="384048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47347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=</a:t>
            </a:r>
            <a:endParaRPr/>
          </a:p>
        </p:txBody>
      </p:sp>
      <p:sp>
        <p:nvSpPr>
          <p:cNvPr id="69" name="Google Shape;69;p1"/>
          <p:cNvSpPr txBox="1"/>
          <p:nvPr/>
        </p:nvSpPr>
        <p:spPr>
          <a:xfrm>
            <a:off x="6254496" y="3108960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F4C44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THE RESULT</a:t>
            </a:r>
            <a:endParaRPr/>
          </a:p>
        </p:txBody>
      </p:sp>
      <p:sp>
        <p:nvSpPr>
          <p:cNvPr id="70" name="Google Shape;70;p1"/>
          <p:cNvSpPr/>
          <p:nvPr/>
        </p:nvSpPr>
        <p:spPr>
          <a:xfrm>
            <a:off x="6254496" y="3291840"/>
            <a:ext cx="2331720" cy="1207008"/>
          </a:xfrm>
          <a:prstGeom prst="roundRect">
            <a:avLst>
              <a:gd fmla="val 12000" name="adj"/>
            </a:avLst>
          </a:prstGeom>
          <a:solidFill>
            <a:srgbClr val="F8ECE8"/>
          </a:solidFill>
          <a:ln cap="flat" cmpd="sng" w="9525">
            <a:solidFill>
              <a:srgbClr val="DDB9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6455664" y="3653028"/>
            <a:ext cx="82296" cy="82296"/>
          </a:xfrm>
          <a:prstGeom prst="ellipse">
            <a:avLst/>
          </a:prstGeom>
          <a:solidFill>
            <a:srgbClr val="AF4C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6620256" y="358444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F4C44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Shelf problems fixed late</a:t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6455664" y="4037076"/>
            <a:ext cx="82296" cy="82296"/>
          </a:xfrm>
          <a:prstGeom prst="ellipse">
            <a:avLst/>
          </a:prstGeom>
          <a:solidFill>
            <a:srgbClr val="AF4C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6620256" y="396849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F4C44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Promotions go unchecked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Spectral SemiBold"/>
                <a:ea typeface="Spectral SemiBold"/>
                <a:cs typeface="Spectral SemiBold"/>
                <a:sym typeface="Spectral SemiBold"/>
              </a:rPr>
              <a:t>FROM SHELF PHOTO TO SCORED VISIT</a:t>
            </a:r>
            <a:endParaRPr/>
          </a:p>
        </p:txBody>
      </p:sp>
      <p:sp>
        <p:nvSpPr>
          <p:cNvPr id="80" name="Google Shape;80;p2"/>
          <p:cNvSpPr txBox="1"/>
          <p:nvPr>
            <p:ph type="title"/>
          </p:nvPr>
        </p:nvSpPr>
        <p:spPr>
          <a:xfrm>
            <a:off x="409925" y="642200"/>
            <a:ext cx="731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600">
                <a:solidFill>
                  <a:srgbClr val="0F2805"/>
                </a:solidFill>
              </a:rPr>
              <a:t>Reinvented: </a:t>
            </a:r>
            <a:r>
              <a:rPr i="1" lang="en-US" sz="2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 scored visit in 10–15 seconds</a:t>
            </a:r>
            <a:r>
              <a:rPr lang="en-US" sz="2600">
                <a:solidFill>
                  <a:srgbClr val="0F2805"/>
                </a:solidFill>
              </a:rPr>
              <a:t>.</a:t>
            </a:r>
            <a:endParaRPr>
              <a:solidFill>
                <a:srgbClr val="0F2805"/>
              </a:solidFill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11480" y="1188720"/>
            <a:ext cx="8174736" cy="2304288"/>
          </a:xfrm>
          <a:prstGeom prst="roundRect">
            <a:avLst>
              <a:gd fmla="val 9325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21792" y="1335024"/>
            <a:ext cx="420624" cy="420624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m.png" id="83" name="Google Shape;8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29" y="1427561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/>
          <p:nvPr/>
        </p:nvSpPr>
        <p:spPr>
          <a:xfrm>
            <a:off x="1170432" y="13304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Photos in, in one go</a:t>
            </a:r>
            <a:endParaRPr/>
          </a:p>
        </p:txBody>
      </p:sp>
      <p:sp>
        <p:nvSpPr>
          <p:cNvPr id="85" name="Google Shape;85;p2"/>
          <p:cNvSpPr txBox="1"/>
          <p:nvPr/>
        </p:nvSpPr>
        <p:spPr>
          <a:xfrm>
            <a:off x="1170432" y="154533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Any order, nothing to tag</a:t>
            </a:r>
            <a:endParaRPr/>
          </a:p>
        </p:txBody>
      </p:sp>
      <p:cxnSp>
        <p:nvCxnSpPr>
          <p:cNvPr id="86" name="Google Shape;86;p2"/>
          <p:cNvCxnSpPr/>
          <p:nvPr/>
        </p:nvCxnSpPr>
        <p:spPr>
          <a:xfrm>
            <a:off x="2889504" y="1545336"/>
            <a:ext cx="310896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7" name="Google Shape;87;p2"/>
          <p:cNvSpPr/>
          <p:nvPr/>
        </p:nvSpPr>
        <p:spPr>
          <a:xfrm>
            <a:off x="3319272" y="1335024"/>
            <a:ext cx="420624" cy="420624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.png" id="88" name="Google Shape;8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1809" y="1427561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 txBox="1"/>
          <p:nvPr/>
        </p:nvSpPr>
        <p:spPr>
          <a:xfrm>
            <a:off x="3867912" y="13304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AI scores the shelf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3867912" y="154533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Six KPIs checked at once</a:t>
            </a:r>
            <a:endParaRPr/>
          </a:p>
        </p:txBody>
      </p:sp>
      <p:cxnSp>
        <p:nvCxnSpPr>
          <p:cNvPr id="91" name="Google Shape;91;p2"/>
          <p:cNvCxnSpPr/>
          <p:nvPr/>
        </p:nvCxnSpPr>
        <p:spPr>
          <a:xfrm>
            <a:off x="5586984" y="1545336"/>
            <a:ext cx="310896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2" name="Google Shape;92;p2"/>
          <p:cNvSpPr/>
          <p:nvPr/>
        </p:nvSpPr>
        <p:spPr>
          <a:xfrm>
            <a:off x="6016752" y="1335024"/>
            <a:ext cx="420624" cy="420624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k.png" id="93" name="Google Shape;9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9289" y="1427561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6565392" y="13304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A scored visit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6565392" y="154533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Ready in 10–15 seconds</a:t>
            </a:r>
            <a:endParaRPr/>
          </a:p>
        </p:txBody>
      </p:sp>
      <p:pic>
        <p:nvPicPr>
          <p:cNvPr descr="res.png" id="96" name="Google Shape;9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" y="1920240"/>
            <a:ext cx="7754112" cy="138328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411480" y="3593592"/>
            <a:ext cx="2724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847347"/>
                </a:solidFill>
                <a:latin typeface="Spectral"/>
                <a:ea typeface="Spectral"/>
                <a:cs typeface="Spectral"/>
                <a:sym typeface="Spectral"/>
              </a:rPr>
              <a:t>10–15 sec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411480" y="4114800"/>
            <a:ext cx="2724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D3829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From shelf photos to a scored visit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3136392" y="3593592"/>
            <a:ext cx="2724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4E582D"/>
                </a:solidFill>
                <a:latin typeface="Spectral"/>
                <a:ea typeface="Spectral"/>
                <a:cs typeface="Spectral"/>
                <a:sym typeface="Spectral"/>
              </a:rPr>
              <a:t>6 KPIs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3136392" y="4114800"/>
            <a:ext cx="2724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D3829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Scored from one set of shelf photos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861304" y="3593592"/>
            <a:ext cx="2724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805"/>
                </a:solidFill>
                <a:latin typeface="Spectral"/>
                <a:ea typeface="Spectral"/>
                <a:cs typeface="Spectral"/>
                <a:sym typeface="Spectral"/>
              </a:rPr>
              <a:t>100%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861304" y="4114800"/>
            <a:ext cx="2724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D3829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Failed checks linked to a photo and clause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Spectral SemiBold"/>
                <a:ea typeface="Spectral SemiBold"/>
                <a:cs typeface="Spectral SemiBold"/>
                <a:sym typeface="Spectral SemiBold"/>
              </a:rPr>
              <a:t>WHAT THE BRAND TEAM GETS</a:t>
            </a:r>
            <a:endParaRPr/>
          </a:p>
        </p:txBody>
      </p:sp>
      <p:sp>
        <p:nvSpPr>
          <p:cNvPr id="108" name="Google Shape;108;p3"/>
          <p:cNvSpPr txBox="1"/>
          <p:nvPr>
            <p:ph type="title"/>
          </p:nvPr>
        </p:nvSpPr>
        <p:spPr>
          <a:xfrm>
            <a:off x="409925" y="642200"/>
            <a:ext cx="731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600">
                <a:solidFill>
                  <a:srgbClr val="0F2805"/>
                </a:solidFill>
              </a:rPr>
              <a:t>Every finding </a:t>
            </a:r>
            <a:r>
              <a:rPr i="1" lang="en-US" sz="2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comes with its proof</a:t>
            </a:r>
            <a:r>
              <a:rPr lang="en-US" sz="2600">
                <a:solidFill>
                  <a:srgbClr val="0F2805"/>
                </a:solidFill>
              </a:rPr>
              <a:t>.</a:t>
            </a:r>
            <a:endParaRPr>
              <a:solidFill>
                <a:srgbClr val="0F2805"/>
              </a:solidFill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11480" y="1188720"/>
            <a:ext cx="4526280" cy="3200400"/>
          </a:xfrm>
          <a:prstGeom prst="roundRect">
            <a:avLst>
              <a:gd fmla="val 6714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.png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344168"/>
            <a:ext cx="4215384" cy="225761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566928" y="3711507"/>
            <a:ext cx="4215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A damaged bottle, found by AI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566928" y="3940107"/>
            <a:ext cx="4215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Live result from the demo: the problem is boxed on the merchandiser’s own photo, next to the checks it passed and failed.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257800" y="1298448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1.png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8384" y="1399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5870448" y="1289304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Boxed on the photo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5870448" y="1517904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The problem is marked where it sits on the shelf.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257800" y="2084831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2.png"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8384" y="2185415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870448" y="2075688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Linked to the rule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5870448" y="2304287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Each failed check cites the clause in the brand’s own documents.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5257800" y="2871215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3.png" id="122" name="Google Shape;12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58384" y="297179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5870448" y="28620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Follow-up drafted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5870448" y="3090672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AI drafts the store email. The brand team edits and sends it.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257800" y="3657600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4.png" id="126" name="Google Shape;12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58384" y="3758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5870448" y="364845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Rolled up by brand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870448" y="3877056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Score trends, weakest KPIs and competitor facings across stores.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ifyApps">
  <a:themeElements>
    <a:clrScheme name="Unify Palette">
      <a:dk1>
        <a:srgbClr val="847347"/>
      </a:dk1>
      <a:lt1>
        <a:srgbClr val="EDE6D7"/>
      </a:lt1>
      <a:dk2>
        <a:srgbClr val="4E582D"/>
      </a:dk2>
      <a:lt2>
        <a:srgbClr val="F7F3ED"/>
      </a:lt2>
      <a:accent1>
        <a:srgbClr val="040B04"/>
      </a:accent1>
      <a:accent2>
        <a:srgbClr val="002000"/>
      </a:accent2>
      <a:accent3>
        <a:srgbClr val="4E582D"/>
      </a:accent3>
      <a:accent4>
        <a:srgbClr val="828750"/>
      </a:accent4>
      <a:accent5>
        <a:srgbClr val="C5BAA9"/>
      </a:accent5>
      <a:accent6>
        <a:srgbClr val="E3D8C2"/>
      </a:accent6>
      <a:hlink>
        <a:srgbClr val="4E582D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